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4F46E5"/>
                </a:solidFill>
                <a:latin typeface="Outfit"/>
              </a:defRPr>
            </a:pPr>
            <a:r>
              <a:t>SignLingo-AI: Milestone 2</a:t>
            </a:r>
          </a:p>
          <a:p>
            <a:pPr algn="l">
              <a:spcBef>
                <a:spcPts val="1200"/>
              </a:spcBef>
              <a:defRPr sz="2200">
                <a:solidFill>
                  <a:srgbClr val="0F172A"/>
                </a:solidFill>
                <a:latin typeface="Inter"/>
              </a:defRPr>
            </a:pPr>
            <a:r>
              <a:t>Real-Time Gesture Recognition &amp; Sign Language Assessment</a:t>
            </a:r>
          </a:p>
          <a:p>
            <a:pPr>
              <a:spcBef>
                <a:spcPts val="4000"/>
              </a:spcBef>
              <a:defRPr sz="1400">
                <a:solidFill>
                  <a:srgbClr val="64748B"/>
                </a:solidFill>
                <a:latin typeface="Inter"/>
              </a:defRPr>
            </a:pPr>
            <a:r>
              <a:t>Presented by: Arvindtechicon | Project Milestone 2 Deliverables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Outfit"/>
              </a:defRPr>
            </a:pPr>
            <a:r>
              <a:t>Objectives &amp; Scope of Milestone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  <a:latin typeface="Inter"/>
              </a:defRPr>
            </a:pPr>
            <a:r>
              <a:t>Develop a robust hand-tracking frontend and pattern recognition assessment backend.</a:t>
            </a:r>
          </a:p>
          <a:p>
            <a:pPr lvl="1">
              <a:spcBef>
                <a:spcPts val="10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Real-Time Tracking:</a:t>
            </a:r>
            <a:r>
              <a:rPr b="0">
                <a:solidFill>
                  <a:srgbClr val="0F172A"/>
                </a:solidFill>
              </a:rPr>
              <a:t> Integrate MediaPipe client-side to track multi-hand and upper body posture.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Dynamic Assessment:</a:t>
            </a:r>
            <a:r>
              <a:rPr b="0">
                <a:solidFill>
                  <a:srgbClr val="0F172A"/>
                </a:solidFill>
              </a:rPr>
              <a:t> Build algorithms capable of measuring coordinate velocity and sequence alignment.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Storage Ingestion:</a:t>
            </a:r>
            <a:r>
              <a:rPr b="0">
                <a:solidFill>
                  <a:srgbClr val="0F172A"/>
                </a:solidFill>
              </a:rPr>
              <a:t> Capture practice history alongside raw coordinate trails directly into user records.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User-Friendly HUD:</a:t>
            </a:r>
            <a:r>
              <a:rPr b="0">
                <a:solidFill>
                  <a:srgbClr val="0F172A"/>
                </a:solidFill>
              </a:rPr>
              <a:t> Surface accuracy ratings and corrective finger joint instructions visually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Outfit"/>
              </a:defRPr>
            </a:pPr>
            <a:r>
              <a:t>System Architecture &amp;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  <a:latin typeface="Inter"/>
              </a:defRPr>
            </a:pPr>
            <a:r>
              <a:t>The platform features a decoupled real-time pipeline that processes video frames client-side and runs similarity metrics in the backend: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463040" cy="1005840"/>
          </a:xfrm>
          <a:prstGeom prst="roundRect">
            <a:avLst/>
          </a:prstGeom>
          <a:solidFill>
            <a:srgbClr val="4F46E5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Webcam Input</a:t>
            </a:r>
            <a:br/>
            <a:r>
              <a:t>(Video Frame)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40280" y="352044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3108960"/>
            <a:ext cx="14630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MediaPipe WASM</a:t>
            </a:r>
            <a:br/>
            <a:r>
              <a:t>(Joint Tracking)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352044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3108960"/>
            <a:ext cx="1463040" cy="1005840"/>
          </a:xfrm>
          <a:prstGeom prst="roundRect">
            <a:avLst/>
          </a:prstGeom>
          <a:solidFill>
            <a:srgbClr val="4F46E5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WebSockets</a:t>
            </a:r>
            <a:br/>
            <a:r>
              <a:t>(JSON Ingestion)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7880" y="352044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14630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FastAPI Deque</a:t>
            </a:r>
            <a:br/>
            <a:r>
              <a:t>(Frame Buffering)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26680" y="352044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3108960"/>
            <a:ext cx="1463040" cy="1005840"/>
          </a:xfrm>
          <a:prstGeom prst="roundRect">
            <a:avLst/>
          </a:prstGeom>
          <a:solidFill>
            <a:srgbClr val="4F46E5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Assessment</a:t>
            </a:r>
            <a:br/>
            <a:r>
              <a:t>(Cosine/Procrustes/DTW)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55480" y="352044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3108960"/>
            <a:ext cx="14630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SQLite Storage</a:t>
            </a:r>
            <a:br/>
            <a:r>
              <a:t>(Attempt Logs)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Outfit"/>
              </a:defRPr>
            </a:pPr>
            <a:r>
              <a:t>Frontend Tracking &amp; UI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Key UI features built inside the Practice Sandbox interface:</a:t>
            </a:r>
            <a:r>
              <a:rPr b="0">
                <a:solidFill>
                  <a:srgbClr val="0F172A"/>
                </a:solidFill>
              </a:rPr>
              <a:t/>
            </a:r>
          </a:p>
          <a:p>
            <a:pPr lvl="1">
              <a:spcBef>
                <a:spcPts val="10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Custom Canvas Overlay:</a:t>
            </a:r>
            <a:r>
              <a:rPr b="0">
                <a:solidFill>
                  <a:srgbClr val="0F172A"/>
                </a:solidFill>
              </a:rPr>
              <a:t> Draws Cobalt Blue hand skeletons and Emerald Green joints over the camera feed.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Visual Pose Overlay:</a:t>
            </a:r>
            <a:r>
              <a:rPr b="0">
                <a:solidFill>
                  <a:srgbClr val="0F172A"/>
                </a:solidFill>
              </a:rPr>
              <a:t> Renders Violet indicators representing Shoulders, Elbows, and Arm movements.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Coordinate Mirroring:</a:t>
            </a:r>
            <a:r>
              <a:rPr b="0">
                <a:solidFill>
                  <a:srgbClr val="0F172A"/>
                </a:solidFill>
              </a:rPr>
              <a:t> Flips the horizontal draw axis to match the mirrored camera display naturally.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On-Demand Camera Toggle:</a:t>
            </a:r>
            <a:r>
              <a:rPr b="0">
                <a:solidFill>
                  <a:srgbClr val="0F172A"/>
                </a:solidFill>
              </a:rPr>
              <a:t> Built an Enable/Disable button with clean video camera placeholders.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Sign Selector:</a:t>
            </a:r>
            <a:r>
              <a:rPr b="0">
                <a:solidFill>
                  <a:srgbClr val="0F172A"/>
                </a:solidFill>
              </a:rPr>
              <a:t> Full alphabet dropdown (A-Z) and 13 dynamic gesture sequence selections.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Outfit"/>
              </a:defRPr>
            </a:pPr>
            <a:r>
              <a:t>AI Pattern Recognition &amp; Assessment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Integrated three core evaluation algorithms to determine gesture correctness:</a:t>
            </a:r>
            <a:r>
              <a:rPr b="0">
                <a:solidFill>
                  <a:srgbClr val="0F172A"/>
                </a:solidFill>
              </a:rPr>
              <a:t/>
            </a:r>
          </a:p>
          <a:p>
            <a:pPr lvl="1">
              <a:spcBef>
                <a:spcPts val="10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Cosine Similarity:</a:t>
            </a:r>
            <a:r>
              <a:rPr b="0">
                <a:solidFill>
                  <a:srgbClr val="0F172A"/>
                </a:solidFill>
              </a:rPr>
              <a:t> Measures the vector angular direction correlation for static letters.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Procrustes Shape Comparison:</a:t>
            </a:r>
            <a:r>
              <a:rPr b="0">
                <a:solidFill>
                  <a:srgbClr val="0F172A"/>
                </a:solidFill>
              </a:rPr>
              <a:t> Computes coordinate disparity, normalizing translation, scaling, and rotations.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Dynamic Time Warping (DTW):</a:t>
            </a:r>
            <a:r>
              <a:rPr b="0">
                <a:solidFill>
                  <a:srgbClr val="0F172A"/>
                </a:solidFill>
              </a:rPr>
              <a:t> Aligns motion sequences of variable speed/length for dynamic words.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Corrective Vector Checking:</a:t>
            </a:r>
            <a:r>
              <a:rPr b="0">
                <a:solidFill>
                  <a:srgbClr val="0F172A"/>
                </a:solidFill>
              </a:rPr>
              <a:t> Calculates pointing angles (MCP to Tip) to return detailed warnings (e.g. thumb/pinky misalignment).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Outfit"/>
              </a:defRPr>
            </a:pPr>
            <a:r>
              <a:t>Database Architecture &amp; SQLite Fallbacks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Robust storage configuration mapping user performance directly in user profiles:</a:t>
            </a:r>
            <a:r>
              <a:rPr b="0">
                <a:solidFill>
                  <a:srgbClr val="0F172A"/>
                </a:solidFill>
              </a:rPr>
              <a:t/>
            </a:r>
          </a:p>
          <a:p>
            <a:pPr lvl="1">
              <a:spcBef>
                <a:spcPts val="10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AttemptLog Table:</a:t>
            </a:r>
            <a:r>
              <a:rPr b="0">
                <a:solidFill>
                  <a:srgbClr val="0F172A"/>
                </a:solidFill>
              </a:rPr>
              <a:t> Stores scores, timestamps, duration, correctness, and corrective feedbacks.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JSONB Coordinate Trails:</a:t>
            </a:r>
            <a:r>
              <a:rPr b="0">
                <a:solidFill>
                  <a:srgbClr val="0F172A"/>
                </a:solidFill>
              </a:rPr>
              <a:t> Saves the entire coordinate history of the practice attempt for review.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SQLite Connection Fallback:</a:t>
            </a:r>
            <a:r>
              <a:rPr b="0">
                <a:solidFill>
                  <a:srgbClr val="0F172A"/>
                </a:solidFill>
              </a:rPr>
              <a:t> Automatically detects if PostgreSQL is offline and switches to local test.db.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Auto-Migrations:</a:t>
            </a:r>
            <a:r>
              <a:rPr b="0">
                <a:solidFill>
                  <a:srgbClr val="0F172A"/>
                </a:solidFill>
              </a:rPr>
              <a:t> Runs database metadata create_all scripts dynamically to instantiate schemas.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Outfit"/>
              </a:defRPr>
            </a:pPr>
            <a:r>
              <a:t>Testing, Simulation &amp; Verification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Three-layer verification pipeline ensuring system stability under all scenarios:</a:t>
            </a:r>
            <a:r>
              <a:rPr b="0">
                <a:solidFill>
                  <a:srgbClr val="0F172A"/>
                </a:solidFill>
              </a:rPr>
              <a:t/>
            </a:r>
          </a:p>
          <a:p>
            <a:pPr lvl="1">
              <a:spcBef>
                <a:spcPts val="10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Automated Pytest Suite:</a:t>
            </a:r>
            <a:r>
              <a:rPr b="0">
                <a:solidFill>
                  <a:srgbClr val="0F172A"/>
                </a:solidFill>
              </a:rPr>
              <a:t> Runs 5 backend tests checking OAuth registration, token login, and WebSocket loops.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Template Validator:</a:t>
            </a:r>
            <a:r>
              <a:rPr b="0">
                <a:solidFill>
                  <a:srgbClr val="0F172A"/>
                </a:solidFill>
              </a:rPr>
              <a:t> Checks memory loading and parsing of reference coordinate sets.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DTW Stream Simulation:</a:t>
            </a:r>
            <a:r>
              <a:rPr b="0">
                <a:solidFill>
                  <a:srgbClr val="0F172A"/>
                </a:solidFill>
              </a:rPr>
              <a:t> Simulates streaming perfect templates frame-by-frame to verify 100% evaluation scores.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Compilation Assurance:</a:t>
            </a:r>
            <a:r>
              <a:rPr b="0">
                <a:solidFill>
                  <a:srgbClr val="0F172A"/>
                </a:solidFill>
              </a:rPr>
              <a:t> Successful production bundling via Vite npm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Outfit"/>
              </a:defRPr>
            </a:pPr>
            <a:r>
              <a:t>Engineering Challenges Faced &amp; Overcome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Key technical hurdles resolved during development:</a:t>
            </a:r>
            <a:r>
              <a:rPr b="0">
                <a:solidFill>
                  <a:srgbClr val="0F172A"/>
                </a:solidFill>
              </a:rPr>
              <a:t/>
            </a:r>
          </a:p>
          <a:p>
            <a:pPr lvl="1">
              <a:spcBef>
                <a:spcPts val="10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WebAssembly Clashing:</a:t>
            </a:r>
            <a:r>
              <a:rPr b="0">
                <a:solidFill>
                  <a:srgbClr val="0F172A"/>
                </a:solidFill>
              </a:rPr>
              <a:t> Solved by sequential execution of models, preventing Emscripten thread conflicts.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Overlay Misalignment:</a:t>
            </a:r>
            <a:r>
              <a:rPr b="0">
                <a:solidFill>
                  <a:srgbClr val="0F172A"/>
                </a:solidFill>
              </a:rPr>
              <a:t> Corrected by adding coordinate mirroring formulas to match CSS camera scale flips.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NumPy JSON Serialization:</a:t>
            </a:r>
            <a:r>
              <a:rPr b="0">
                <a:solidFill>
                  <a:srgbClr val="0F172A"/>
                </a:solidFill>
              </a:rPr>
              <a:t> Cast NumPy float64 and bool types to native Python structures before WebSocket streaming.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Procrustes Singular Exceptions:</a:t>
            </a:r>
            <a:r>
              <a:rPr b="0">
                <a:solidFill>
                  <a:srgbClr val="0F172A"/>
                </a:solidFill>
              </a:rPr>
              <a:t> Handled degenerate matrices safely to keep the backend online.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Outfit"/>
              </a:defRPr>
            </a:pPr>
            <a:r>
              <a:t>Outcomes &amp; Deliverables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Milestone 2 is complete, verified, and successfully pushed to main branch:</a:t>
            </a:r>
            <a:r>
              <a:rPr b="0">
                <a:solidFill>
                  <a:srgbClr val="0F172A"/>
                </a:solidFill>
              </a:rPr>
              <a:t/>
            </a:r>
          </a:p>
          <a:p>
            <a:pPr lvl="1">
              <a:spcBef>
                <a:spcPts val="10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Interactive Sandbox:</a:t>
            </a:r>
            <a:r>
              <a:rPr b="0">
                <a:solidFill>
                  <a:srgbClr val="0F172A"/>
                </a:solidFill>
              </a:rPr>
              <a:t> Real-time hand-body overlays, accuracy wheels, and on/off camera buttons.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Assessment Engine:</a:t>
            </a:r>
            <a:r>
              <a:rPr b="0">
                <a:solidFill>
                  <a:srgbClr val="0F172A"/>
                </a:solidFill>
              </a:rPr>
              <a:t> Complete Cosine, Procrustes, and DTW matching logic.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Untracked Local Configs:</a:t>
            </a:r>
            <a:r>
              <a:rPr b="0">
                <a:solidFill>
                  <a:srgbClr val="0F172A"/>
                </a:solidFill>
              </a:rPr>
              <a:t> Excluded system documents (e.g. presentations, PDF reports) and local .env keys.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100% Passing Tests:</a:t>
            </a:r>
            <a:r>
              <a:rPr b="0">
                <a:solidFill>
                  <a:srgbClr val="0F172A"/>
                </a:solidFill>
              </a:rPr>
              <a:t> Full coverage on auth gateways and WebSocket connections.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Outfit"/>
              </a:defRPr>
            </a:pPr>
            <a:r>
              <a:t>Milestone 3 Roadmap: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Looking Ahead:</a:t>
            </a:r>
            <a:r>
              <a:rPr b="0">
                <a:solidFill>
                  <a:srgbClr val="0F172A"/>
                </a:solidFill>
              </a:rPr>
              <a:t> I will implement and execute all Milestone 3 features to deliver a complete pipeline.</a:t>
            </a:r>
          </a:p>
          <a:p>
            <a:pPr lvl="1">
              <a:spcBef>
                <a:spcPts val="10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Interactive Practice Modules:</a:t>
            </a:r>
            <a:r>
              <a:rPr b="0">
                <a:solidFill>
                  <a:srgbClr val="0F172A"/>
                </a:solidFill>
              </a:rPr>
              <a:t> Integrate gamified lessons and custom progress indicators.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Advanced Analytics Dashboards:</a:t>
            </a:r>
            <a:r>
              <a:rPr b="0">
                <a:solidFill>
                  <a:srgbClr val="0F172A"/>
                </a:solidFill>
              </a:rPr>
              <a:t> Build historical stats charts, time-spent counters, and progress reports.</a:t>
            </a:r>
          </a:p>
          <a:p>
            <a:pPr lvl="1">
              <a:spcBef>
                <a:spcPts val="600"/>
              </a:spcBef>
              <a:defRPr sz="1600">
                <a:solidFill>
                  <a:srgbClr val="64748B"/>
                </a:solidFill>
                <a:latin typeface="Inter"/>
              </a:defRPr>
            </a:pPr>
            <a:r>
              <a:rPr b="1">
                <a:solidFill>
                  <a:srgbClr val="0F172A"/>
                </a:solidFill>
              </a:rPr>
              <a:t>Assessment Enhancements:</a:t>
            </a:r>
            <a:r>
              <a:rPr b="0">
                <a:solidFill>
                  <a:srgbClr val="0F172A"/>
                </a:solidFill>
              </a:rPr>
              <a:t> Expand the dictionary template libraries and refine accuracy matching thresholds.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